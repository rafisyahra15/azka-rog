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BM Plex Mono Bold" charset="1" panose="020B0809050203000203"/>
      <p:regular r:id="rId16"/>
    </p:embeddedFont>
    <p:embeddedFont>
      <p:font typeface="Montserrat Bold" charset="1" panose="00000800000000000000"/>
      <p:regular r:id="rId17"/>
    </p:embeddedFont>
    <p:embeddedFont>
      <p:font typeface="Open Sans" charset="1" panose="00000000000000000000"/>
      <p:regular r:id="rId18"/>
    </p:embeddedFont>
    <p:embeddedFont>
      <p:font typeface="IBM Plex Mono" charset="1" panose="020B0509050203000203"/>
      <p:regular r:id="rId22"/>
    </p:embeddedFont>
    <p:embeddedFont>
      <p:font typeface="Intro Rust" charset="1" panose="00000500000000000000"/>
      <p:regular r:id="rId25"/>
    </p:embeddedFont>
    <p:embeddedFont>
      <p:font typeface="Open Sans Bold" charset="1" panose="00000000000000000000"/>
      <p:regular r:id="rId27"/>
    </p:embeddedFont>
    <p:embeddedFont>
      <p:font typeface="Montserrat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Tekankan perbedaan fungsi: UTP sebagai media, RJ45 sebagai konektor, dan crossover sebagai pola pengawatan kedua ujung.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Tunjukkan alat satu per satu. Siapkan konektor cadangan karena pemasangan pertama bisa gagal jika urutan kawat bergeser.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Demonstrasikan perlahan: kupas tanpa melukai kawat, luruskan, susun, lalu cek ulang urutan sebelum memotong rata.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Gunakan singkatan: P/H putih-hijau, P/O putih-oranye, P/B putih-biru, P/C putih-cokelat. Fokus pada pertukaran pasangan hijau dan oranye.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Nyalakan tester setelah kedua ujung terpasang. Bacakan pola pin perlahan dan bandingkan dengan pola crossover.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Nyalakan tester setelah kedua ujung terpasang. Bacakan pola pin perlahan dan bandingkan dengan pola crossover.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youtu.be/zAco52qkTwE?si=BKuDbFsYUN5ZrXmE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youtu.be/pd0n-dn0iTs?si=toCi1WA43lzwgzbi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06000" y="0"/>
            <a:ext cx="8382000" cy="10287000"/>
          </a:xfrm>
          <a:custGeom>
            <a:avLst/>
            <a:gdLst/>
            <a:ahLst/>
            <a:cxnLst/>
            <a:rect r="r" b="b" t="t" l="l"/>
            <a:pathLst>
              <a:path h="10287000" w="8382000">
                <a:moveTo>
                  <a:pt x="0" y="0"/>
                </a:moveTo>
                <a:lnTo>
                  <a:pt x="8382000" y="0"/>
                </a:lnTo>
                <a:lnTo>
                  <a:pt x="8382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" r="0" b="-65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524750" y="0"/>
            <a:ext cx="4762500" cy="10287000"/>
            <a:chOff x="0" y="0"/>
            <a:chExt cx="6350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1827">
                    <a:alpha val="100000"/>
                  </a:srgbClr>
                </a:gs>
                <a:gs pos="100000">
                  <a:srgbClr val="071827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35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47750" y="1009650"/>
            <a:ext cx="7612216" cy="24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sz="1498" spc="179" b="true">
                <a:solidFill>
                  <a:srgbClr val="24D6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PRAKTIK JARINGAN KOMPUTER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1822840"/>
            <a:ext cx="8858250" cy="104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0"/>
              </a:lnSpc>
            </a:pPr>
            <a:r>
              <a:rPr lang="en-US" sz="4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Cara Merangkai Kabel LAN menggunakan RJ45 Tipe Cross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4879838"/>
            <a:ext cx="1047750" cy="47625"/>
            <a:chOff x="0" y="0"/>
            <a:chExt cx="1397000" cy="63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97000" cy="63500"/>
            </a:xfrm>
            <a:custGeom>
              <a:avLst/>
              <a:gdLst/>
              <a:ahLst/>
              <a:cxnLst/>
              <a:rect r="r" b="b" t="t" l="l"/>
              <a:pathLst>
                <a:path h="635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4D6E5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97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47750" y="5105400"/>
            <a:ext cx="7378390" cy="1684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4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Nama : Rafisyah Azka</a:t>
            </a:r>
          </a:p>
          <a:p>
            <a:pPr algn="l">
              <a:lnSpc>
                <a:spcPts val="3436"/>
              </a:lnSpc>
            </a:pPr>
            <a:r>
              <a:rPr lang="en-US" sz="24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Kelas : 1-TIA</a:t>
            </a:r>
          </a:p>
          <a:p>
            <a:pPr algn="l">
              <a:lnSpc>
                <a:spcPts val="3436"/>
              </a:lnSpc>
            </a:pPr>
            <a:r>
              <a:rPr lang="en-US" sz="24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Mata Kuliah : Jaringan Komputer</a:t>
            </a:r>
          </a:p>
          <a:p>
            <a:pPr algn="l">
              <a:lnSpc>
                <a:spcPts val="3436"/>
              </a:lnSpc>
            </a:pPr>
            <a:r>
              <a:rPr lang="en-US" sz="24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Dosen Pengampu : Dr. Ali Firdaus, S.Kom, M.Kom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9102090"/>
            <a:ext cx="80962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A9C0CE"/>
                </a:solidFill>
                <a:latin typeface="Open Sans"/>
                <a:ea typeface="Open Sans"/>
                <a:cs typeface="Open Sans"/>
                <a:sym typeface="Open Sans"/>
              </a:rPr>
              <a:t>Made in Azka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1028700"/>
            <a:ext cx="14287500" cy="1111758"/>
            <a:chOff x="0" y="0"/>
            <a:chExt cx="19050000" cy="14823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89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4D6E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PRAKTIK JARINGAN  /  03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82625"/>
              <a:ext cx="19050000" cy="7997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6"/>
                </a:lnSpc>
              </a:pPr>
              <a:r>
                <a:rPr lang="en-US" sz="4200" b="true">
                  <a:solidFill>
                    <a:srgbClr val="10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Tiga komponen yang perlu dipahami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906000" y="2857500"/>
            <a:ext cx="6667500" cy="4953000"/>
          </a:xfrm>
          <a:custGeom>
            <a:avLst/>
            <a:gdLst/>
            <a:ahLst/>
            <a:cxnLst/>
            <a:rect r="r" b="b" t="t" l="l"/>
            <a:pathLst>
              <a:path h="4953000" w="6667500">
                <a:moveTo>
                  <a:pt x="0" y="0"/>
                </a:moveTo>
                <a:lnTo>
                  <a:pt x="6667500" y="0"/>
                </a:lnTo>
                <a:lnTo>
                  <a:pt x="6667500" y="4953000"/>
                </a:lnTo>
                <a:lnTo>
                  <a:pt x="0" y="4953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" t="0" r="-24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238250" y="3190875"/>
            <a:ext cx="17145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UTP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43250" y="3190875"/>
            <a:ext cx="533400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02536"/>
                </a:solidFill>
                <a:latin typeface="Open Sans"/>
                <a:ea typeface="Open Sans"/>
                <a:cs typeface="Open Sans"/>
                <a:sym typeface="Open Sans"/>
              </a:rPr>
              <a:t>Empat pasang kawat terpilin untuk mengurangi gangguan sinyal.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8250" y="4810125"/>
            <a:ext cx="17145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RJ45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43250" y="4810125"/>
            <a:ext cx="533400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02536"/>
                </a:solidFill>
                <a:latin typeface="Open Sans"/>
                <a:ea typeface="Open Sans"/>
                <a:cs typeface="Open Sans"/>
                <a:sym typeface="Open Sans"/>
              </a:rPr>
              <a:t>Konektor 8 pin yang dijepit ke ujung kabel dengan tang crimping.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8250" y="6429375"/>
            <a:ext cx="17145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CROSS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43250" y="6429375"/>
            <a:ext cx="5334000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02536"/>
                </a:solidFill>
                <a:latin typeface="Open Sans"/>
                <a:ea typeface="Open Sans"/>
                <a:cs typeface="Open Sans"/>
                <a:sym typeface="Open Sans"/>
              </a:rPr>
              <a:t>Ujung pertama memakai T568A, ujung kedua T568B—pasangan kirim dan terima disilangkan.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750" y="9696450"/>
            <a:ext cx="52387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607584"/>
                </a:solidFill>
                <a:latin typeface="IBM Plex Mono"/>
                <a:ea typeface="IBM Plex Mono"/>
                <a:cs typeface="IBM Plex Mono"/>
                <a:sym typeface="IBM Plex Mono"/>
              </a:rPr>
              <a:t>RAFISYAH AZKA  •  1-TIA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383000" y="9696450"/>
            <a:ext cx="8572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>
                <a:solidFill>
                  <a:srgbClr val="607584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33671" y="3143250"/>
            <a:ext cx="9806579" cy="5562342"/>
          </a:xfrm>
          <a:custGeom>
            <a:avLst/>
            <a:gdLst/>
            <a:ahLst/>
            <a:cxnLst/>
            <a:rect r="r" b="b" t="t" l="l"/>
            <a:pathLst>
              <a:path h="5562342" w="9806579">
                <a:moveTo>
                  <a:pt x="0" y="0"/>
                </a:moveTo>
                <a:lnTo>
                  <a:pt x="9806579" y="0"/>
                </a:lnTo>
                <a:lnTo>
                  <a:pt x="9806579" y="5562342"/>
                </a:lnTo>
                <a:lnTo>
                  <a:pt x="0" y="55623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22" t="0" r="-1312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7750" y="666750"/>
            <a:ext cx="14287500" cy="1111758"/>
            <a:chOff x="0" y="0"/>
            <a:chExt cx="19050000" cy="148234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28575"/>
              <a:ext cx="889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4D6E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PRAKTIK JARINGAN  /  04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82625"/>
              <a:ext cx="19050000" cy="7997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6"/>
                </a:lnSpc>
              </a:pPr>
              <a:r>
                <a:rPr lang="en-US" sz="42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Alat dan bahan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47750" y="3019425"/>
            <a:ext cx="5143500" cy="234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 Kabel UTP Cat5e/Cat6</a:t>
            </a:r>
          </a:p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 Konektor RJ45 (2 buah)</a:t>
            </a:r>
          </a:p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03  Tang crimping / stripper</a:t>
            </a:r>
          </a:p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04  LAN tester</a:t>
            </a:r>
          </a:p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05  Cabel Stripper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9696450"/>
            <a:ext cx="52387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8DA8B8"/>
                </a:solidFill>
                <a:latin typeface="IBM Plex Mono"/>
                <a:ea typeface="IBM Plex Mono"/>
                <a:cs typeface="IBM Plex Mono"/>
                <a:sym typeface="IBM Plex Mono"/>
              </a:rPr>
              <a:t>RAFISYAH AZKA  •  1-TIA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83000" y="9696450"/>
            <a:ext cx="8572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>
                <a:solidFill>
                  <a:srgbClr val="8DA8B8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1174"/>
            <a:ext cx="14287500" cy="1683258"/>
            <a:chOff x="0" y="0"/>
            <a:chExt cx="19050000" cy="22443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89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4D6E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PRAKTIK JARINGAN  /  06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82625"/>
              <a:ext cx="19050000" cy="15617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6"/>
                </a:lnSpc>
              </a:pPr>
              <a:r>
                <a:rPr lang="en-US" sz="4200" b="true">
                  <a:solidFill>
                    <a:srgbClr val="10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Langkah - Langkah Merangkai Kabel LAN Menggunakan RJ45 (Tipe Cross)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216663"/>
            <a:ext cx="15901970" cy="667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082" indent="-231041" lvl="1">
              <a:lnSpc>
                <a:spcPts val="2996"/>
              </a:lnSpc>
              <a:buFont typeface="Arial"/>
              <a:buChar char="•"/>
            </a:pPr>
            <a:r>
              <a:rPr lang="en-US" sz="2140">
                <a:solidFill>
                  <a:srgbClr val="102536"/>
                </a:solidFill>
                <a:latin typeface="Intro Rust"/>
                <a:ea typeface="Intro Rust"/>
                <a:cs typeface="Intro Rust"/>
                <a:sym typeface="Intro Rust"/>
              </a:rPr>
              <a:t>Kupas b</a:t>
            </a:r>
            <a:r>
              <a:rPr lang="en-US" sz="2140">
                <a:solidFill>
                  <a:srgbClr val="102536"/>
                </a:solidFill>
                <a:latin typeface="Intro Rust"/>
                <a:ea typeface="Intro Rust"/>
                <a:cs typeface="Intro Rust"/>
                <a:sym typeface="Intro Rust"/>
              </a:rPr>
              <a:t>agian luar kabel UTP menggunakan kabel stripper secara hati-hati agar kabel bagian dalam tidak rusak.</a:t>
            </a:r>
          </a:p>
          <a:p>
            <a:pPr algn="l" marL="462082" indent="-231041" lvl="1">
              <a:lnSpc>
                <a:spcPts val="2996"/>
              </a:lnSpc>
              <a:buFont typeface="Arial"/>
              <a:buChar char="•"/>
            </a:pPr>
            <a:r>
              <a:rPr lang="en-US" sz="2140">
                <a:solidFill>
                  <a:srgbClr val="102536"/>
                </a:solidFill>
                <a:latin typeface="Intro Rust"/>
                <a:ea typeface="Intro Rust"/>
                <a:cs typeface="Intro Rust"/>
                <a:sym typeface="Intro Rust"/>
              </a:rPr>
              <a:t>Pisahkan 8 kabel kecil di dalam kabel UTP, kemudian luruskan setiap kabel agar mudah disusun.</a:t>
            </a:r>
          </a:p>
          <a:p>
            <a:pPr algn="l" marL="462082" indent="-231041" lvl="1">
              <a:lnSpc>
                <a:spcPts val="2996"/>
              </a:lnSpc>
              <a:buFont typeface="Arial"/>
              <a:buChar char="•"/>
            </a:pPr>
            <a:r>
              <a:rPr lang="en-US" sz="2140">
                <a:solidFill>
                  <a:srgbClr val="102536"/>
                </a:solidFill>
                <a:latin typeface="Intro Rust"/>
                <a:ea typeface="Intro Rust"/>
                <a:cs typeface="Intro Rust"/>
                <a:sym typeface="Intro Rust"/>
              </a:rPr>
              <a:t>Susun kabel pada ujung pertama dengan urutan T568B: Putih-Orange, Orange, Putih-Hijau, Biru, Putih-Biru, Hijau, Putih-Cokelat, Cokelat.</a:t>
            </a:r>
          </a:p>
          <a:p>
            <a:pPr algn="l" marL="462082" indent="-231041" lvl="1">
              <a:lnSpc>
                <a:spcPts val="2996"/>
              </a:lnSpc>
              <a:buFont typeface="Arial"/>
              <a:buChar char="•"/>
            </a:pPr>
            <a:r>
              <a:rPr lang="en-US" sz="2140">
                <a:solidFill>
                  <a:srgbClr val="102536"/>
                </a:solidFill>
                <a:latin typeface="Intro Rust"/>
                <a:ea typeface="Intro Rust"/>
                <a:cs typeface="Intro Rust"/>
                <a:sym typeface="Intro Rust"/>
              </a:rPr>
              <a:t>Rapikan dan ratakan ujung kabel, kemudian masukkan seluruh kabel ke dalam konektor RJ45 sesuai urutan warna.</a:t>
            </a:r>
          </a:p>
          <a:p>
            <a:pPr algn="l" marL="462082" indent="-231041" lvl="1">
              <a:lnSpc>
                <a:spcPts val="2996"/>
              </a:lnSpc>
              <a:buFont typeface="Arial"/>
              <a:buChar char="•"/>
            </a:pPr>
            <a:r>
              <a:rPr lang="en-US" sz="2140">
                <a:solidFill>
                  <a:srgbClr val="102536"/>
                </a:solidFill>
                <a:latin typeface="Intro Rust"/>
                <a:ea typeface="Intro Rust"/>
                <a:cs typeface="Intro Rust"/>
                <a:sym typeface="Intro Rust"/>
              </a:rPr>
              <a:t>Masukkan konektor RJ45 ke tang crimping, lalu tekan hingga pin konektor menjepit kabel dengan kuat.</a:t>
            </a:r>
          </a:p>
          <a:p>
            <a:pPr algn="l" marL="462082" indent="-231041" lvl="1">
              <a:lnSpc>
                <a:spcPts val="2996"/>
              </a:lnSpc>
              <a:buFont typeface="Arial"/>
              <a:buChar char="•"/>
            </a:pPr>
            <a:r>
              <a:rPr lang="en-US" sz="2140">
                <a:solidFill>
                  <a:srgbClr val="102536"/>
                </a:solidFill>
                <a:latin typeface="Intro Rust"/>
                <a:ea typeface="Intro Rust"/>
                <a:cs typeface="Intro Rust"/>
                <a:sym typeface="Intro Rust"/>
              </a:rPr>
              <a:t>Susun ujung kabel kedua dengan urutan T568A: Putih-Hijau, Hijau, Putih-Orange, Biru, Putih-Biru, Orange, Putih-Cokelat, Cokelat.</a:t>
            </a:r>
          </a:p>
          <a:p>
            <a:pPr algn="l" marL="462082" indent="-231041" lvl="1">
              <a:lnSpc>
                <a:spcPts val="2996"/>
              </a:lnSpc>
              <a:buFont typeface="Arial"/>
              <a:buChar char="•"/>
            </a:pPr>
            <a:r>
              <a:rPr lang="en-US" sz="2140">
                <a:solidFill>
                  <a:srgbClr val="102536"/>
                </a:solidFill>
                <a:latin typeface="Intro Rust"/>
                <a:ea typeface="Intro Rust"/>
                <a:cs typeface="Intro Rust"/>
                <a:sym typeface="Intro Rust"/>
              </a:rPr>
              <a:t>Masukkan kabel ke konektor RJ45, pastikan urutan warnanya benar, kemudian lakukan crimping menggunakan tang crimping.</a:t>
            </a:r>
          </a:p>
          <a:p>
            <a:pPr algn="l" marL="462082" indent="-231041" lvl="1">
              <a:lnSpc>
                <a:spcPts val="2996"/>
              </a:lnSpc>
              <a:buFont typeface="Arial"/>
              <a:buChar char="•"/>
            </a:pPr>
            <a:r>
              <a:rPr lang="en-US" sz="2140">
                <a:solidFill>
                  <a:srgbClr val="102536"/>
                </a:solidFill>
                <a:latin typeface="Intro Rust"/>
                <a:ea typeface="Intro Rust"/>
                <a:cs typeface="Intro Rust"/>
                <a:sym typeface="Intro Rust"/>
              </a:rPr>
              <a:t>Hubungkan kedua ujung kabel ke LAN tester untuk memeriksa apakah semua pin terhubung dengan benar.</a:t>
            </a:r>
          </a:p>
          <a:p>
            <a:pPr algn="l" marL="462082" indent="-231041" lvl="1">
              <a:lnSpc>
                <a:spcPts val="2996"/>
              </a:lnSpc>
              <a:buFont typeface="Arial"/>
              <a:buChar char="•"/>
            </a:pPr>
            <a:r>
              <a:rPr lang="en-US" sz="2140">
                <a:solidFill>
                  <a:srgbClr val="102536"/>
                </a:solidFill>
                <a:latin typeface="Intro Rust"/>
                <a:ea typeface="Intro Rust"/>
                <a:cs typeface="Intro Rust"/>
                <a:sym typeface="Intro Rust"/>
              </a:rPr>
              <a:t>Jika indikator pin 1–8 menyala sesuai urutan, kabel LAN tipe cross berhasil dibuat dan siap digunakan.</a:t>
            </a:r>
          </a:p>
          <a:p>
            <a:pPr algn="l">
              <a:lnSpc>
                <a:spcPts val="299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9696450"/>
            <a:ext cx="52387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607584"/>
                </a:solidFill>
                <a:latin typeface="IBM Plex Mono"/>
                <a:ea typeface="IBM Plex Mono"/>
                <a:cs typeface="IBM Plex Mono"/>
                <a:sym typeface="IBM Plex Mono"/>
              </a:rPr>
              <a:t>RAFISYAH AZKA  •  1-TIA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83000" y="9696450"/>
            <a:ext cx="8572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>
                <a:solidFill>
                  <a:srgbClr val="607584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  <p:transition spd="fast">
    <p:wipe dir="l"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666750"/>
            <a:ext cx="14287500" cy="1111758"/>
            <a:chOff x="0" y="0"/>
            <a:chExt cx="19050000" cy="14823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89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24D6E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PRAKTIK JARINGAN  /  05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82625"/>
              <a:ext cx="19050000" cy="7997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6"/>
                </a:lnSpc>
              </a:pPr>
              <a:r>
                <a:rPr lang="en-US" sz="4200" b="true">
                  <a:solidFill>
                    <a:srgbClr val="10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T568A vs T568B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3500" y="2762250"/>
            <a:ext cx="14478000" cy="1666875"/>
            <a:chOff x="0" y="0"/>
            <a:chExt cx="19304000" cy="22225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38100"/>
              <a:ext cx="635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10253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UJUNG 1  —  T568A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0" y="889000"/>
              <a:ext cx="1968500" cy="1333500"/>
              <a:chOff x="0" y="0"/>
              <a:chExt cx="1968500" cy="1333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685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968500">
                    <a:moveTo>
                      <a:pt x="131097" y="0"/>
                    </a:moveTo>
                    <a:lnTo>
                      <a:pt x="1837403" y="0"/>
                    </a:lnTo>
                    <a:cubicBezTo>
                      <a:pt x="1909806" y="0"/>
                      <a:pt x="1968500" y="58694"/>
                      <a:pt x="1968500" y="131097"/>
                    </a:cubicBezTo>
                    <a:lnTo>
                      <a:pt x="1968500" y="1202403"/>
                    </a:lnTo>
                    <a:cubicBezTo>
                      <a:pt x="1968500" y="1274806"/>
                      <a:pt x="1909806" y="1333500"/>
                      <a:pt x="1837403" y="1333500"/>
                    </a:cubicBezTo>
                    <a:lnTo>
                      <a:pt x="131097" y="1333500"/>
                    </a:lnTo>
                    <a:cubicBezTo>
                      <a:pt x="58694" y="1333500"/>
                      <a:pt x="0" y="1274806"/>
                      <a:pt x="0" y="1202403"/>
                    </a:cubicBezTo>
                    <a:lnTo>
                      <a:pt x="0" y="131097"/>
                    </a:lnTo>
                    <a:cubicBezTo>
                      <a:pt x="0" y="58694"/>
                      <a:pt x="58694" y="0"/>
                      <a:pt x="131097" y="0"/>
                    </a:cubicBezTo>
                    <a:close/>
                  </a:path>
                </a:pathLst>
              </a:custGeom>
              <a:solidFill>
                <a:srgbClr val="3FCF8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19050"/>
                <a:ext cx="1968500" cy="1314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1</a:t>
                </a:r>
              </a:p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P/H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476500" y="889000"/>
              <a:ext cx="1968500" cy="1333500"/>
              <a:chOff x="0" y="0"/>
              <a:chExt cx="1968500" cy="13335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9685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968500">
                    <a:moveTo>
                      <a:pt x="131097" y="0"/>
                    </a:moveTo>
                    <a:lnTo>
                      <a:pt x="1837403" y="0"/>
                    </a:lnTo>
                    <a:cubicBezTo>
                      <a:pt x="1909806" y="0"/>
                      <a:pt x="1968500" y="58694"/>
                      <a:pt x="1968500" y="131097"/>
                    </a:cubicBezTo>
                    <a:lnTo>
                      <a:pt x="1968500" y="1202403"/>
                    </a:lnTo>
                    <a:cubicBezTo>
                      <a:pt x="1968500" y="1274806"/>
                      <a:pt x="1909806" y="1333500"/>
                      <a:pt x="1837403" y="1333500"/>
                    </a:cubicBezTo>
                    <a:lnTo>
                      <a:pt x="131097" y="1333500"/>
                    </a:lnTo>
                    <a:cubicBezTo>
                      <a:pt x="58694" y="1333500"/>
                      <a:pt x="0" y="1274806"/>
                      <a:pt x="0" y="1202403"/>
                    </a:cubicBezTo>
                    <a:lnTo>
                      <a:pt x="0" y="131097"/>
                    </a:lnTo>
                    <a:cubicBezTo>
                      <a:pt x="0" y="58694"/>
                      <a:pt x="58694" y="0"/>
                      <a:pt x="131097" y="0"/>
                    </a:cubicBezTo>
                    <a:close/>
                  </a:path>
                </a:pathLst>
              </a:custGeom>
              <a:solidFill>
                <a:srgbClr val="3FCF8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19050"/>
                <a:ext cx="1968500" cy="1314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2</a:t>
                </a:r>
              </a:p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H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4953000" y="889000"/>
              <a:ext cx="1968500" cy="1333500"/>
              <a:chOff x="0" y="0"/>
              <a:chExt cx="1968500" cy="1333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685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968500">
                    <a:moveTo>
                      <a:pt x="131097" y="0"/>
                    </a:moveTo>
                    <a:lnTo>
                      <a:pt x="1837403" y="0"/>
                    </a:lnTo>
                    <a:cubicBezTo>
                      <a:pt x="1909806" y="0"/>
                      <a:pt x="1968500" y="58694"/>
                      <a:pt x="1968500" y="131097"/>
                    </a:cubicBezTo>
                    <a:lnTo>
                      <a:pt x="1968500" y="1202403"/>
                    </a:lnTo>
                    <a:cubicBezTo>
                      <a:pt x="1968500" y="1274806"/>
                      <a:pt x="1909806" y="1333500"/>
                      <a:pt x="1837403" y="1333500"/>
                    </a:cubicBezTo>
                    <a:lnTo>
                      <a:pt x="131097" y="1333500"/>
                    </a:lnTo>
                    <a:cubicBezTo>
                      <a:pt x="58694" y="1333500"/>
                      <a:pt x="0" y="1274806"/>
                      <a:pt x="0" y="1202403"/>
                    </a:cubicBezTo>
                    <a:lnTo>
                      <a:pt x="0" y="131097"/>
                    </a:lnTo>
                    <a:cubicBezTo>
                      <a:pt x="0" y="58694"/>
                      <a:pt x="58694" y="0"/>
                      <a:pt x="131097" y="0"/>
                    </a:cubicBezTo>
                    <a:close/>
                  </a:path>
                </a:pathLst>
              </a:custGeom>
              <a:solidFill>
                <a:srgbClr val="F0A34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1968500" cy="1314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3</a:t>
                </a:r>
              </a:p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P/O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7429500" y="889000"/>
              <a:ext cx="1968500" cy="1333500"/>
              <a:chOff x="0" y="0"/>
              <a:chExt cx="1968500" cy="1333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685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968500">
                    <a:moveTo>
                      <a:pt x="131097" y="0"/>
                    </a:moveTo>
                    <a:lnTo>
                      <a:pt x="1837403" y="0"/>
                    </a:lnTo>
                    <a:cubicBezTo>
                      <a:pt x="1909806" y="0"/>
                      <a:pt x="1968500" y="58694"/>
                      <a:pt x="1968500" y="131097"/>
                    </a:cubicBezTo>
                    <a:lnTo>
                      <a:pt x="1968500" y="1202403"/>
                    </a:lnTo>
                    <a:cubicBezTo>
                      <a:pt x="1968500" y="1274806"/>
                      <a:pt x="1909806" y="1333500"/>
                      <a:pt x="1837403" y="1333500"/>
                    </a:cubicBezTo>
                    <a:lnTo>
                      <a:pt x="131097" y="1333500"/>
                    </a:lnTo>
                    <a:cubicBezTo>
                      <a:pt x="58694" y="1333500"/>
                      <a:pt x="0" y="1274806"/>
                      <a:pt x="0" y="1202403"/>
                    </a:cubicBezTo>
                    <a:lnTo>
                      <a:pt x="0" y="131097"/>
                    </a:lnTo>
                    <a:cubicBezTo>
                      <a:pt x="0" y="58694"/>
                      <a:pt x="58694" y="0"/>
                      <a:pt x="131097" y="0"/>
                    </a:cubicBezTo>
                    <a:close/>
                  </a:path>
                </a:pathLst>
              </a:custGeom>
              <a:solidFill>
                <a:srgbClr val="277BD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1968500" cy="1314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4</a:t>
                </a:r>
              </a:p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B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9906000" y="889000"/>
              <a:ext cx="1968500" cy="1333500"/>
              <a:chOff x="0" y="0"/>
              <a:chExt cx="1968500" cy="1333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685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968500">
                    <a:moveTo>
                      <a:pt x="131097" y="0"/>
                    </a:moveTo>
                    <a:lnTo>
                      <a:pt x="1837403" y="0"/>
                    </a:lnTo>
                    <a:cubicBezTo>
                      <a:pt x="1909806" y="0"/>
                      <a:pt x="1968500" y="58694"/>
                      <a:pt x="1968500" y="131097"/>
                    </a:cubicBezTo>
                    <a:lnTo>
                      <a:pt x="1968500" y="1202403"/>
                    </a:lnTo>
                    <a:cubicBezTo>
                      <a:pt x="1968500" y="1274806"/>
                      <a:pt x="1909806" y="1333500"/>
                      <a:pt x="1837403" y="1333500"/>
                    </a:cubicBezTo>
                    <a:lnTo>
                      <a:pt x="131097" y="1333500"/>
                    </a:lnTo>
                    <a:cubicBezTo>
                      <a:pt x="58694" y="1333500"/>
                      <a:pt x="0" y="1274806"/>
                      <a:pt x="0" y="1202403"/>
                    </a:cubicBezTo>
                    <a:lnTo>
                      <a:pt x="0" y="131097"/>
                    </a:lnTo>
                    <a:cubicBezTo>
                      <a:pt x="0" y="58694"/>
                      <a:pt x="58694" y="0"/>
                      <a:pt x="131097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1968500" cy="1314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102536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5</a:t>
                </a:r>
              </a:p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102536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P/B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2382500" y="889000"/>
              <a:ext cx="1968500" cy="1333500"/>
              <a:chOff x="0" y="0"/>
              <a:chExt cx="1968500" cy="13335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9685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968500">
                    <a:moveTo>
                      <a:pt x="131097" y="0"/>
                    </a:moveTo>
                    <a:lnTo>
                      <a:pt x="1837403" y="0"/>
                    </a:lnTo>
                    <a:cubicBezTo>
                      <a:pt x="1909806" y="0"/>
                      <a:pt x="1968500" y="58694"/>
                      <a:pt x="1968500" y="131097"/>
                    </a:cubicBezTo>
                    <a:lnTo>
                      <a:pt x="1968500" y="1202403"/>
                    </a:lnTo>
                    <a:cubicBezTo>
                      <a:pt x="1968500" y="1274806"/>
                      <a:pt x="1909806" y="1333500"/>
                      <a:pt x="1837403" y="1333500"/>
                    </a:cubicBezTo>
                    <a:lnTo>
                      <a:pt x="131097" y="1333500"/>
                    </a:lnTo>
                    <a:cubicBezTo>
                      <a:pt x="58694" y="1333500"/>
                      <a:pt x="0" y="1274806"/>
                      <a:pt x="0" y="1202403"/>
                    </a:cubicBezTo>
                    <a:lnTo>
                      <a:pt x="0" y="131097"/>
                    </a:lnTo>
                    <a:cubicBezTo>
                      <a:pt x="0" y="58694"/>
                      <a:pt x="58694" y="0"/>
                      <a:pt x="131097" y="0"/>
                    </a:cubicBezTo>
                    <a:close/>
                  </a:path>
                </a:pathLst>
              </a:custGeom>
              <a:solidFill>
                <a:srgbClr val="F0A34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19050"/>
                <a:ext cx="1968500" cy="1314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6</a:t>
                </a:r>
              </a:p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O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4859000" y="889000"/>
              <a:ext cx="1968500" cy="1333500"/>
              <a:chOff x="0" y="0"/>
              <a:chExt cx="1968500" cy="13335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9685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968500">
                    <a:moveTo>
                      <a:pt x="131097" y="0"/>
                    </a:moveTo>
                    <a:lnTo>
                      <a:pt x="1837403" y="0"/>
                    </a:lnTo>
                    <a:cubicBezTo>
                      <a:pt x="1909806" y="0"/>
                      <a:pt x="1968500" y="58694"/>
                      <a:pt x="1968500" y="131097"/>
                    </a:cubicBezTo>
                    <a:lnTo>
                      <a:pt x="1968500" y="1202403"/>
                    </a:lnTo>
                    <a:cubicBezTo>
                      <a:pt x="1968500" y="1274806"/>
                      <a:pt x="1909806" y="1333500"/>
                      <a:pt x="1837403" y="1333500"/>
                    </a:cubicBezTo>
                    <a:lnTo>
                      <a:pt x="131097" y="1333500"/>
                    </a:lnTo>
                    <a:cubicBezTo>
                      <a:pt x="58694" y="1333500"/>
                      <a:pt x="0" y="1274806"/>
                      <a:pt x="0" y="1202403"/>
                    </a:cubicBezTo>
                    <a:lnTo>
                      <a:pt x="0" y="131097"/>
                    </a:lnTo>
                    <a:cubicBezTo>
                      <a:pt x="0" y="58694"/>
                      <a:pt x="58694" y="0"/>
                      <a:pt x="131097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19050"/>
                <a:ext cx="1968500" cy="1314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102536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7</a:t>
                </a:r>
              </a:p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102536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P/C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7335500" y="889000"/>
              <a:ext cx="1968500" cy="1333500"/>
              <a:chOff x="0" y="0"/>
              <a:chExt cx="1968500" cy="13335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9685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968500">
                    <a:moveTo>
                      <a:pt x="131097" y="0"/>
                    </a:moveTo>
                    <a:lnTo>
                      <a:pt x="1837403" y="0"/>
                    </a:lnTo>
                    <a:cubicBezTo>
                      <a:pt x="1909806" y="0"/>
                      <a:pt x="1968500" y="58694"/>
                      <a:pt x="1968500" y="131097"/>
                    </a:cubicBezTo>
                    <a:lnTo>
                      <a:pt x="1968500" y="1202403"/>
                    </a:lnTo>
                    <a:cubicBezTo>
                      <a:pt x="1968500" y="1274806"/>
                      <a:pt x="1909806" y="1333500"/>
                      <a:pt x="1837403" y="1333500"/>
                    </a:cubicBezTo>
                    <a:lnTo>
                      <a:pt x="131097" y="1333500"/>
                    </a:lnTo>
                    <a:cubicBezTo>
                      <a:pt x="58694" y="1333500"/>
                      <a:pt x="0" y="1274806"/>
                      <a:pt x="0" y="1202403"/>
                    </a:cubicBezTo>
                    <a:lnTo>
                      <a:pt x="0" y="131097"/>
                    </a:lnTo>
                    <a:cubicBezTo>
                      <a:pt x="0" y="58694"/>
                      <a:pt x="58694" y="0"/>
                      <a:pt x="131097" y="0"/>
                    </a:cubicBezTo>
                    <a:close/>
                  </a:path>
                </a:pathLst>
              </a:custGeom>
              <a:solidFill>
                <a:srgbClr val="7B4B2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19050"/>
                <a:ext cx="1968500" cy="1314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8</a:t>
                </a:r>
              </a:p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C</a:t>
                </a:r>
              </a:p>
            </p:txBody>
          </p:sp>
        </p:grpSp>
      </p:grpSp>
      <p:grpSp>
        <p:nvGrpSpPr>
          <p:cNvPr name="Group 31" id="31"/>
          <p:cNvGrpSpPr/>
          <p:nvPr/>
        </p:nvGrpSpPr>
        <p:grpSpPr>
          <a:xfrm rot="0">
            <a:off x="1333500" y="5238750"/>
            <a:ext cx="14478000" cy="1666875"/>
            <a:chOff x="0" y="0"/>
            <a:chExt cx="19304000" cy="2222500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-38100"/>
              <a:ext cx="635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4D6E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UJUNG 2  —  T568B</a:t>
              </a:r>
            </a:p>
          </p:txBody>
        </p:sp>
        <p:grpSp>
          <p:nvGrpSpPr>
            <p:cNvPr name="Group 33" id="33"/>
            <p:cNvGrpSpPr/>
            <p:nvPr/>
          </p:nvGrpSpPr>
          <p:grpSpPr>
            <a:xfrm rot="0">
              <a:off x="0" y="889000"/>
              <a:ext cx="1968500" cy="1333500"/>
              <a:chOff x="0" y="0"/>
              <a:chExt cx="1968500" cy="13335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685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968500">
                    <a:moveTo>
                      <a:pt x="131097" y="0"/>
                    </a:moveTo>
                    <a:lnTo>
                      <a:pt x="1837403" y="0"/>
                    </a:lnTo>
                    <a:cubicBezTo>
                      <a:pt x="1909806" y="0"/>
                      <a:pt x="1968500" y="58694"/>
                      <a:pt x="1968500" y="131097"/>
                    </a:cubicBezTo>
                    <a:lnTo>
                      <a:pt x="1968500" y="1202403"/>
                    </a:lnTo>
                    <a:cubicBezTo>
                      <a:pt x="1968500" y="1274806"/>
                      <a:pt x="1909806" y="1333500"/>
                      <a:pt x="1837403" y="1333500"/>
                    </a:cubicBezTo>
                    <a:lnTo>
                      <a:pt x="131097" y="1333500"/>
                    </a:lnTo>
                    <a:cubicBezTo>
                      <a:pt x="58694" y="1333500"/>
                      <a:pt x="0" y="1274806"/>
                      <a:pt x="0" y="1202403"/>
                    </a:cubicBezTo>
                    <a:lnTo>
                      <a:pt x="0" y="131097"/>
                    </a:lnTo>
                    <a:cubicBezTo>
                      <a:pt x="0" y="58694"/>
                      <a:pt x="58694" y="0"/>
                      <a:pt x="131097" y="0"/>
                    </a:cubicBezTo>
                    <a:close/>
                  </a:path>
                </a:pathLst>
              </a:custGeom>
              <a:solidFill>
                <a:srgbClr val="F0A34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1968500" cy="1314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1</a:t>
                </a:r>
              </a:p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P/O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2476500" y="889000"/>
              <a:ext cx="1968500" cy="1333500"/>
              <a:chOff x="0" y="0"/>
              <a:chExt cx="1968500" cy="13335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9685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968500">
                    <a:moveTo>
                      <a:pt x="131097" y="0"/>
                    </a:moveTo>
                    <a:lnTo>
                      <a:pt x="1837403" y="0"/>
                    </a:lnTo>
                    <a:cubicBezTo>
                      <a:pt x="1909806" y="0"/>
                      <a:pt x="1968500" y="58694"/>
                      <a:pt x="1968500" y="131097"/>
                    </a:cubicBezTo>
                    <a:lnTo>
                      <a:pt x="1968500" y="1202403"/>
                    </a:lnTo>
                    <a:cubicBezTo>
                      <a:pt x="1968500" y="1274806"/>
                      <a:pt x="1909806" y="1333500"/>
                      <a:pt x="1837403" y="1333500"/>
                    </a:cubicBezTo>
                    <a:lnTo>
                      <a:pt x="131097" y="1333500"/>
                    </a:lnTo>
                    <a:cubicBezTo>
                      <a:pt x="58694" y="1333500"/>
                      <a:pt x="0" y="1274806"/>
                      <a:pt x="0" y="1202403"/>
                    </a:cubicBezTo>
                    <a:lnTo>
                      <a:pt x="0" y="131097"/>
                    </a:lnTo>
                    <a:cubicBezTo>
                      <a:pt x="0" y="58694"/>
                      <a:pt x="58694" y="0"/>
                      <a:pt x="131097" y="0"/>
                    </a:cubicBezTo>
                    <a:close/>
                  </a:path>
                </a:pathLst>
              </a:custGeom>
              <a:solidFill>
                <a:srgbClr val="F0A34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1968500" cy="1314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2</a:t>
                </a:r>
              </a:p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O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4953000" y="889000"/>
              <a:ext cx="1968500" cy="1333500"/>
              <a:chOff x="0" y="0"/>
              <a:chExt cx="1968500" cy="13335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9685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968500">
                    <a:moveTo>
                      <a:pt x="131097" y="0"/>
                    </a:moveTo>
                    <a:lnTo>
                      <a:pt x="1837403" y="0"/>
                    </a:lnTo>
                    <a:cubicBezTo>
                      <a:pt x="1909806" y="0"/>
                      <a:pt x="1968500" y="58694"/>
                      <a:pt x="1968500" y="131097"/>
                    </a:cubicBezTo>
                    <a:lnTo>
                      <a:pt x="1968500" y="1202403"/>
                    </a:lnTo>
                    <a:cubicBezTo>
                      <a:pt x="1968500" y="1274806"/>
                      <a:pt x="1909806" y="1333500"/>
                      <a:pt x="1837403" y="1333500"/>
                    </a:cubicBezTo>
                    <a:lnTo>
                      <a:pt x="131097" y="1333500"/>
                    </a:lnTo>
                    <a:cubicBezTo>
                      <a:pt x="58694" y="1333500"/>
                      <a:pt x="0" y="1274806"/>
                      <a:pt x="0" y="1202403"/>
                    </a:cubicBezTo>
                    <a:lnTo>
                      <a:pt x="0" y="131097"/>
                    </a:lnTo>
                    <a:cubicBezTo>
                      <a:pt x="0" y="58694"/>
                      <a:pt x="58694" y="0"/>
                      <a:pt x="131097" y="0"/>
                    </a:cubicBezTo>
                    <a:close/>
                  </a:path>
                </a:pathLst>
              </a:custGeom>
              <a:solidFill>
                <a:srgbClr val="3FCF8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1968500" cy="1314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3</a:t>
                </a:r>
              </a:p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P/H</a:t>
                </a: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7429500" y="889000"/>
              <a:ext cx="1968500" cy="1333500"/>
              <a:chOff x="0" y="0"/>
              <a:chExt cx="1968500" cy="13335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9685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968500">
                    <a:moveTo>
                      <a:pt x="131097" y="0"/>
                    </a:moveTo>
                    <a:lnTo>
                      <a:pt x="1837403" y="0"/>
                    </a:lnTo>
                    <a:cubicBezTo>
                      <a:pt x="1909806" y="0"/>
                      <a:pt x="1968500" y="58694"/>
                      <a:pt x="1968500" y="131097"/>
                    </a:cubicBezTo>
                    <a:lnTo>
                      <a:pt x="1968500" y="1202403"/>
                    </a:lnTo>
                    <a:cubicBezTo>
                      <a:pt x="1968500" y="1274806"/>
                      <a:pt x="1909806" y="1333500"/>
                      <a:pt x="1837403" y="1333500"/>
                    </a:cubicBezTo>
                    <a:lnTo>
                      <a:pt x="131097" y="1333500"/>
                    </a:lnTo>
                    <a:cubicBezTo>
                      <a:pt x="58694" y="1333500"/>
                      <a:pt x="0" y="1274806"/>
                      <a:pt x="0" y="1202403"/>
                    </a:cubicBezTo>
                    <a:lnTo>
                      <a:pt x="0" y="131097"/>
                    </a:lnTo>
                    <a:cubicBezTo>
                      <a:pt x="0" y="58694"/>
                      <a:pt x="58694" y="0"/>
                      <a:pt x="131097" y="0"/>
                    </a:cubicBezTo>
                    <a:close/>
                  </a:path>
                </a:pathLst>
              </a:custGeom>
              <a:solidFill>
                <a:srgbClr val="277BD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19050"/>
                <a:ext cx="1968500" cy="1314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4</a:t>
                </a:r>
              </a:p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B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9906000" y="889000"/>
              <a:ext cx="1968500" cy="1333500"/>
              <a:chOff x="0" y="0"/>
              <a:chExt cx="1968500" cy="13335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9685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968500">
                    <a:moveTo>
                      <a:pt x="131097" y="0"/>
                    </a:moveTo>
                    <a:lnTo>
                      <a:pt x="1837403" y="0"/>
                    </a:lnTo>
                    <a:cubicBezTo>
                      <a:pt x="1909806" y="0"/>
                      <a:pt x="1968500" y="58694"/>
                      <a:pt x="1968500" y="131097"/>
                    </a:cubicBezTo>
                    <a:lnTo>
                      <a:pt x="1968500" y="1202403"/>
                    </a:lnTo>
                    <a:cubicBezTo>
                      <a:pt x="1968500" y="1274806"/>
                      <a:pt x="1909806" y="1333500"/>
                      <a:pt x="1837403" y="1333500"/>
                    </a:cubicBezTo>
                    <a:lnTo>
                      <a:pt x="131097" y="1333500"/>
                    </a:lnTo>
                    <a:cubicBezTo>
                      <a:pt x="58694" y="1333500"/>
                      <a:pt x="0" y="1274806"/>
                      <a:pt x="0" y="1202403"/>
                    </a:cubicBezTo>
                    <a:lnTo>
                      <a:pt x="0" y="131097"/>
                    </a:lnTo>
                    <a:cubicBezTo>
                      <a:pt x="0" y="58694"/>
                      <a:pt x="58694" y="0"/>
                      <a:pt x="131097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19050"/>
                <a:ext cx="1968500" cy="1314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102536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5</a:t>
                </a:r>
              </a:p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102536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P/B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12382500" y="889000"/>
              <a:ext cx="1968500" cy="1333500"/>
              <a:chOff x="0" y="0"/>
              <a:chExt cx="1968500" cy="13335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685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968500">
                    <a:moveTo>
                      <a:pt x="131097" y="0"/>
                    </a:moveTo>
                    <a:lnTo>
                      <a:pt x="1837403" y="0"/>
                    </a:lnTo>
                    <a:cubicBezTo>
                      <a:pt x="1909806" y="0"/>
                      <a:pt x="1968500" y="58694"/>
                      <a:pt x="1968500" y="131097"/>
                    </a:cubicBezTo>
                    <a:lnTo>
                      <a:pt x="1968500" y="1202403"/>
                    </a:lnTo>
                    <a:cubicBezTo>
                      <a:pt x="1968500" y="1274806"/>
                      <a:pt x="1909806" y="1333500"/>
                      <a:pt x="1837403" y="1333500"/>
                    </a:cubicBezTo>
                    <a:lnTo>
                      <a:pt x="131097" y="1333500"/>
                    </a:lnTo>
                    <a:cubicBezTo>
                      <a:pt x="58694" y="1333500"/>
                      <a:pt x="0" y="1274806"/>
                      <a:pt x="0" y="1202403"/>
                    </a:cubicBezTo>
                    <a:lnTo>
                      <a:pt x="0" y="131097"/>
                    </a:lnTo>
                    <a:cubicBezTo>
                      <a:pt x="0" y="58694"/>
                      <a:pt x="58694" y="0"/>
                      <a:pt x="131097" y="0"/>
                    </a:cubicBezTo>
                    <a:close/>
                  </a:path>
                </a:pathLst>
              </a:custGeom>
              <a:solidFill>
                <a:srgbClr val="3FCF8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19050"/>
                <a:ext cx="1968500" cy="1314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6</a:t>
                </a:r>
              </a:p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H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14859000" y="889000"/>
              <a:ext cx="1968500" cy="1333500"/>
              <a:chOff x="0" y="0"/>
              <a:chExt cx="1968500" cy="13335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9685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968500">
                    <a:moveTo>
                      <a:pt x="131097" y="0"/>
                    </a:moveTo>
                    <a:lnTo>
                      <a:pt x="1837403" y="0"/>
                    </a:lnTo>
                    <a:cubicBezTo>
                      <a:pt x="1909806" y="0"/>
                      <a:pt x="1968500" y="58694"/>
                      <a:pt x="1968500" y="131097"/>
                    </a:cubicBezTo>
                    <a:lnTo>
                      <a:pt x="1968500" y="1202403"/>
                    </a:lnTo>
                    <a:cubicBezTo>
                      <a:pt x="1968500" y="1274806"/>
                      <a:pt x="1909806" y="1333500"/>
                      <a:pt x="1837403" y="1333500"/>
                    </a:cubicBezTo>
                    <a:lnTo>
                      <a:pt x="131097" y="1333500"/>
                    </a:lnTo>
                    <a:cubicBezTo>
                      <a:pt x="58694" y="1333500"/>
                      <a:pt x="0" y="1274806"/>
                      <a:pt x="0" y="1202403"/>
                    </a:cubicBezTo>
                    <a:lnTo>
                      <a:pt x="0" y="131097"/>
                    </a:lnTo>
                    <a:cubicBezTo>
                      <a:pt x="0" y="58694"/>
                      <a:pt x="58694" y="0"/>
                      <a:pt x="131097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19050"/>
                <a:ext cx="1968500" cy="1314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102536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7</a:t>
                </a:r>
              </a:p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102536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P/C</a:t>
                </a: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17335500" y="889000"/>
              <a:ext cx="1968500" cy="1333500"/>
              <a:chOff x="0" y="0"/>
              <a:chExt cx="1968500" cy="13335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9685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968500">
                    <a:moveTo>
                      <a:pt x="131097" y="0"/>
                    </a:moveTo>
                    <a:lnTo>
                      <a:pt x="1837403" y="0"/>
                    </a:lnTo>
                    <a:cubicBezTo>
                      <a:pt x="1909806" y="0"/>
                      <a:pt x="1968500" y="58694"/>
                      <a:pt x="1968500" y="131097"/>
                    </a:cubicBezTo>
                    <a:lnTo>
                      <a:pt x="1968500" y="1202403"/>
                    </a:lnTo>
                    <a:cubicBezTo>
                      <a:pt x="1968500" y="1274806"/>
                      <a:pt x="1909806" y="1333500"/>
                      <a:pt x="1837403" y="1333500"/>
                    </a:cubicBezTo>
                    <a:lnTo>
                      <a:pt x="131097" y="1333500"/>
                    </a:lnTo>
                    <a:cubicBezTo>
                      <a:pt x="58694" y="1333500"/>
                      <a:pt x="0" y="1274806"/>
                      <a:pt x="0" y="1202403"/>
                    </a:cubicBezTo>
                    <a:lnTo>
                      <a:pt x="0" y="131097"/>
                    </a:lnTo>
                    <a:cubicBezTo>
                      <a:pt x="0" y="58694"/>
                      <a:pt x="58694" y="0"/>
                      <a:pt x="131097" y="0"/>
                    </a:cubicBezTo>
                    <a:close/>
                  </a:path>
                </a:pathLst>
              </a:custGeom>
              <a:solidFill>
                <a:srgbClr val="7B4B2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19050"/>
                <a:ext cx="1968500" cy="1314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8</a:t>
                </a:r>
              </a:p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C</a:t>
                </a:r>
              </a:p>
            </p:txBody>
          </p:sp>
        </p:grpSp>
      </p:grpSp>
      <p:sp>
        <p:nvSpPr>
          <p:cNvPr name="TextBox 57" id="57"/>
          <p:cNvSpPr txBox="true"/>
          <p:nvPr/>
        </p:nvSpPr>
        <p:spPr>
          <a:xfrm rot="0">
            <a:off x="1333500" y="8448675"/>
            <a:ext cx="952500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607584"/>
                </a:solidFill>
                <a:latin typeface="Open Sans"/>
                <a:ea typeface="Open Sans"/>
                <a:cs typeface="Open Sans"/>
                <a:sym typeface="Open Sans"/>
              </a:rPr>
              <a:t>Posisi klip RJ45 menghadap bawah, pin dibaca dari kiri ke kanan.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47750" y="9696450"/>
            <a:ext cx="52387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607584"/>
                </a:solidFill>
                <a:latin typeface="IBM Plex Mono"/>
                <a:ea typeface="IBM Plex Mono"/>
                <a:cs typeface="IBM Plex Mono"/>
                <a:sym typeface="IBM Plex Mono"/>
              </a:rPr>
              <a:t>RAFISYAH AZKA  •  1-TIA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383000" y="9696450"/>
            <a:ext cx="8572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>
                <a:solidFill>
                  <a:srgbClr val="607584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  <p:transition spd="fast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63817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4D6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PRAKTIK JARINGAN  /  10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71800" y="5022913"/>
            <a:ext cx="14287500" cy="58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b="true" sz="4200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2" tooltip="https://youtu.be/zAco52qkTwE?si=BKuDbFsYUN5ZrXmE"/>
              </a:rPr>
              <a:t>Link Video 1 — Crimping kabel LAN crossover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9696450"/>
            <a:ext cx="52387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8DA8B8"/>
                </a:solidFill>
                <a:latin typeface="IBM Plex Mono"/>
                <a:ea typeface="IBM Plex Mono"/>
                <a:cs typeface="IBM Plex Mono"/>
                <a:sym typeface="IBM Plex Mono"/>
              </a:rPr>
              <a:t>RAFISYAH AZKA  •  1-TIA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83000" y="9696450"/>
            <a:ext cx="8572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>
                <a:solidFill>
                  <a:srgbClr val="8DA8B8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  <p:transition spd="fast">
    <p:wipe dir="l"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9696450"/>
            <a:ext cx="52387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607584"/>
                </a:solidFill>
                <a:latin typeface="IBM Plex Mono"/>
                <a:ea typeface="IBM Plex Mono"/>
                <a:cs typeface="IBM Plex Mono"/>
                <a:sym typeface="IBM Plex Mono"/>
              </a:rPr>
              <a:t>RAFISYAH AZKA  •  1-TIA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383000" y="9696450"/>
            <a:ext cx="8572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>
                <a:solidFill>
                  <a:srgbClr val="607584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58453"/>
            <a:ext cx="11246102" cy="6414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1979" indent="-285990" lvl="1">
              <a:lnSpc>
                <a:spcPts val="3973"/>
              </a:lnSpc>
              <a:buAutoNum type="arabicPeriod" startAt="1"/>
            </a:pPr>
            <a:r>
              <a:rPr lang="en-US" b="true" sz="26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Hubungkan konektor RJ45 dari kabel LAN tipe cross ke port Ethernet pada kedua laptop.</a:t>
            </a:r>
          </a:p>
          <a:p>
            <a:pPr algn="l" marL="571979" indent="-285990" lvl="1">
              <a:lnSpc>
                <a:spcPts val="3973"/>
              </a:lnSpc>
              <a:buAutoNum type="arabicPeriod" startAt="1"/>
            </a:pPr>
            <a:r>
              <a:rPr lang="en-US" b="true" sz="26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Buka Control Panel pada masing-masing laptop.</a:t>
            </a:r>
          </a:p>
          <a:p>
            <a:pPr algn="l" marL="571979" indent="-285990" lvl="1">
              <a:lnSpc>
                <a:spcPts val="3973"/>
              </a:lnSpc>
              <a:buAutoNum type="arabicPeriod" startAt="1"/>
            </a:pPr>
            <a:r>
              <a:rPr lang="en-US" b="true" sz="26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Pilih Network and Internet → Network and Sharing Center.</a:t>
            </a:r>
          </a:p>
          <a:p>
            <a:pPr algn="l" marL="571979" indent="-285990" lvl="1">
              <a:lnSpc>
                <a:spcPts val="3973"/>
              </a:lnSpc>
              <a:buAutoNum type="arabicPeriod" startAt="1"/>
            </a:pPr>
            <a:r>
              <a:rPr lang="en-US" b="true" sz="26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Pilih Change adapter settings, lalu klik kanan Ethernet → Properties.</a:t>
            </a:r>
          </a:p>
          <a:p>
            <a:pPr algn="l" marL="571979" indent="-285990" lvl="1">
              <a:lnSpc>
                <a:spcPts val="3973"/>
              </a:lnSpc>
              <a:buAutoNum type="arabicPeriod" startAt="1"/>
            </a:pPr>
            <a:r>
              <a:rPr lang="en-US" b="true" sz="26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Pilih Internet Protocol Version 4 (TCP/IPv4) → Properties.</a:t>
            </a:r>
          </a:p>
          <a:p>
            <a:pPr algn="l" marL="571979" indent="-285990" lvl="1">
              <a:lnSpc>
                <a:spcPts val="3973"/>
              </a:lnSpc>
              <a:buAutoNum type="arabicPeriod" startAt="1"/>
            </a:pPr>
            <a:r>
              <a:rPr lang="en-US" b="true" sz="26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Pilih Use the following IP address, lalu atur:</a:t>
            </a:r>
          </a:p>
          <a:p>
            <a:pPr algn="l" marL="571979" indent="-285990" lvl="1">
              <a:lnSpc>
                <a:spcPts val="3973"/>
              </a:lnSpc>
              <a:buAutoNum type="arabicPeriod" startAt="1"/>
            </a:pPr>
            <a:r>
              <a:rPr lang="en-US" b="true" sz="26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Laptop 1: 192.168.1.1</a:t>
            </a:r>
          </a:p>
          <a:p>
            <a:pPr algn="l" marL="571979" indent="-285990" lvl="1">
              <a:lnSpc>
                <a:spcPts val="3973"/>
              </a:lnSpc>
              <a:buAutoNum type="arabicPeriod" startAt="1"/>
            </a:pPr>
            <a:r>
              <a:rPr lang="en-US" b="true" sz="26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Laptop 2: 192.168.1.2</a:t>
            </a:r>
          </a:p>
          <a:p>
            <a:pPr algn="l" marL="571979" indent="-285990" lvl="1">
              <a:lnSpc>
                <a:spcPts val="3973"/>
              </a:lnSpc>
              <a:buAutoNum type="arabicPeriod" startAt="1"/>
            </a:pPr>
            <a:r>
              <a:rPr lang="en-US" b="true" sz="26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Subnet Mask: 255.255.255.0</a:t>
            </a:r>
          </a:p>
          <a:p>
            <a:pPr algn="l" marL="571979" indent="-285990" lvl="1">
              <a:lnSpc>
                <a:spcPts val="3973"/>
              </a:lnSpc>
              <a:buAutoNum type="arabicPeriod" startAt="1"/>
            </a:pPr>
            <a:r>
              <a:rPr lang="en-US" b="true" sz="26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Klik OK, lalu Close untuk menyimpan pengaturan.</a:t>
            </a:r>
          </a:p>
          <a:p>
            <a:pPr algn="l">
              <a:lnSpc>
                <a:spcPts val="397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104831" y="1099358"/>
            <a:ext cx="12078338" cy="1363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8"/>
              </a:lnSpc>
            </a:pPr>
            <a:r>
              <a:rPr lang="en-US" b="true" sz="496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Menghubungkan Dua Laptop dan Mengatur IP Address</a:t>
            </a:r>
          </a:p>
        </p:txBody>
      </p:sp>
    </p:spTree>
  </p:cSld>
  <p:clrMapOvr>
    <a:masterClrMapping/>
  </p:clrMapOvr>
  <p:transition spd="fast">
    <p:wipe dir="l"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9696450"/>
            <a:ext cx="52387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607584"/>
                </a:solidFill>
                <a:latin typeface="IBM Plex Mono"/>
                <a:ea typeface="IBM Plex Mono"/>
                <a:cs typeface="IBM Plex Mono"/>
                <a:sym typeface="IBM Plex Mono"/>
              </a:rPr>
              <a:t>RAFISYAH AZKA  •  1-TIA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383000" y="9696450"/>
            <a:ext cx="8572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>
                <a:solidFill>
                  <a:srgbClr val="607584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749351"/>
            <a:ext cx="11246102" cy="6508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1980" indent="-285990" lvl="1">
              <a:lnSpc>
                <a:spcPts val="3444"/>
              </a:lnSpc>
              <a:buAutoNum type="arabicPeriod" startAt="1"/>
            </a:pPr>
            <a:r>
              <a:rPr lang="en-US" b="true" sz="26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</a:t>
            </a:r>
            <a:r>
              <a:rPr lang="en-US" b="true" sz="26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uka Command Prompt (CMD) pada salah satu laptop.</a:t>
            </a:r>
          </a:p>
          <a:p>
            <a:pPr algn="l" marL="571980" indent="-285990" lvl="1">
              <a:lnSpc>
                <a:spcPts val="3444"/>
              </a:lnSpc>
              <a:buAutoNum type="arabicPeriod" startAt="1"/>
            </a:pPr>
            <a:r>
              <a:rPr lang="en-US" b="true" sz="26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Ketik ping 192.168.1.2 untuk menguji koneksi ke laptop pasangan.</a:t>
            </a:r>
          </a:p>
          <a:p>
            <a:pPr algn="l" marL="571980" indent="-285990" lvl="1">
              <a:lnSpc>
                <a:spcPts val="3444"/>
              </a:lnSpc>
              <a:buAutoNum type="arabicPeriod" startAt="1"/>
            </a:pPr>
            <a:r>
              <a:rPr lang="en-US" b="true" sz="26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Tekan Enter dan tunggu hingga proses selesai.</a:t>
            </a:r>
          </a:p>
          <a:p>
            <a:pPr algn="l" marL="571980" indent="-285990" lvl="1">
              <a:lnSpc>
                <a:spcPts val="3444"/>
              </a:lnSpc>
              <a:buAutoNum type="arabicPeriod" startAt="1"/>
            </a:pPr>
            <a:r>
              <a:rPr lang="en-US" b="true" sz="26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Jika muncul Reply from 192.168.1.2, berarti koneksi kedua laptop berhasil.</a:t>
            </a:r>
          </a:p>
          <a:p>
            <a:pPr algn="l" marL="571980" indent="-285990" lvl="1">
              <a:lnSpc>
                <a:spcPts val="3444"/>
              </a:lnSpc>
              <a:buAutoNum type="arabicPeriod" startAt="1"/>
            </a:pPr>
            <a:r>
              <a:rPr lang="en-US" b="true" sz="26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Sete</a:t>
            </a:r>
            <a:r>
              <a:rPr lang="en-US" b="true" sz="26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lah koneksi berhasil, buka File Explorer pada laptop yang akan digunakan untuk berbagi file.</a:t>
            </a:r>
          </a:p>
          <a:p>
            <a:pPr algn="l" marL="571980" indent="-285990" lvl="1">
              <a:lnSpc>
                <a:spcPts val="3444"/>
              </a:lnSpc>
              <a:buAutoNum type="arabicPeriod" startAt="1"/>
            </a:pPr>
            <a:r>
              <a:rPr lang="en-US" b="true" sz="26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Pilih folder yang ingin dibagikan, lalu klik kanan → Properties.</a:t>
            </a:r>
          </a:p>
          <a:p>
            <a:pPr algn="l" marL="571980" indent="-285990" lvl="1">
              <a:lnSpc>
                <a:spcPts val="3444"/>
              </a:lnSpc>
              <a:buAutoNum type="arabicPeriod" startAt="1"/>
            </a:pPr>
            <a:r>
              <a:rPr lang="en-US" b="true" sz="26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Pilih tab Sharing → Advanced Sharing.</a:t>
            </a:r>
          </a:p>
          <a:p>
            <a:pPr algn="l" marL="571980" indent="-285990" lvl="1">
              <a:lnSpc>
                <a:spcPts val="3444"/>
              </a:lnSpc>
              <a:buAutoNum type="arabicPeriod" startAt="1"/>
            </a:pPr>
            <a:r>
              <a:rPr lang="en-US" b="true" sz="26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Centang Share this folder, kemudian klik Permissions dan atur izin akses.</a:t>
            </a:r>
          </a:p>
          <a:p>
            <a:pPr algn="l" marL="571980" indent="-285990" lvl="1">
              <a:lnSpc>
                <a:spcPts val="3444"/>
              </a:lnSpc>
              <a:buAutoNum type="arabicPeriod" startAt="1"/>
            </a:pPr>
            <a:r>
              <a:rPr lang="en-US" b="true" sz="26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Pada laptop pasangan, tekan Windows + R, lalu masukkan alamat IP laptop yang membagikan folder, misalnya \\192.168.1.1.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98594" y="1095375"/>
            <a:ext cx="11890812" cy="68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8"/>
              </a:lnSpc>
            </a:pPr>
            <a:r>
              <a:rPr lang="en-US" sz="496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Menguji Koneksi &amp; Sharing File</a:t>
            </a:r>
          </a:p>
        </p:txBody>
      </p:sp>
    </p:spTree>
  </p:cSld>
  <p:clrMapOvr>
    <a:masterClrMapping/>
  </p:clrMapOvr>
  <p:transition spd="fast">
    <p:wipe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63817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4D6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PRAKTIK JARINGAN  /  11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71800" y="4873371"/>
            <a:ext cx="14287500" cy="58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b="true" sz="4200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2" tooltip="https://youtu.be/pd0n-dn0iTs?si=toCi1WA43lzwgzbi"/>
              </a:rPr>
              <a:t>Link Video 2 — Koneksi laptop &amp; file sharing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9696450"/>
            <a:ext cx="52387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8DA8B8"/>
                </a:solidFill>
                <a:latin typeface="IBM Plex Mono"/>
                <a:ea typeface="IBM Plex Mono"/>
                <a:cs typeface="IBM Plex Mono"/>
                <a:sym typeface="IBM Plex Mono"/>
              </a:rPr>
              <a:t>RAFISYAH AZKA  •  1-TIA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83000" y="9696450"/>
            <a:ext cx="8572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>
                <a:solidFill>
                  <a:srgbClr val="8DA8B8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  <p:transition spd="fast">
    <p:wipe dir="l"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02712" y="3441148"/>
            <a:ext cx="12082576" cy="1702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70"/>
              </a:lnSpc>
            </a:pPr>
            <a:r>
              <a:rPr lang="en-US" sz="1219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TERIMA KASIH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9696450"/>
            <a:ext cx="52387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8DA8B8"/>
                </a:solidFill>
                <a:latin typeface="IBM Plex Mono"/>
                <a:ea typeface="IBM Plex Mono"/>
                <a:cs typeface="IBM Plex Mono"/>
                <a:sym typeface="IBM Plex Mono"/>
              </a:rPr>
              <a:t>RAFISYAH AZKA  •  1-TIA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83000" y="9696450"/>
            <a:ext cx="8572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1125">
                <a:solidFill>
                  <a:srgbClr val="8DA8B8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73402" y="7774446"/>
            <a:ext cx="7341196" cy="49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6"/>
              </a:lnSpc>
            </a:pPr>
            <a:r>
              <a:rPr lang="en-US" sz="2933">
                <a:solidFill>
                  <a:srgbClr val="607584"/>
                </a:solidFill>
                <a:latin typeface="Montserrat"/>
                <a:ea typeface="Montserrat"/>
                <a:cs typeface="Montserrat"/>
                <a:sym typeface="Montserrat"/>
              </a:rPr>
              <a:t>"Code The System. Connect The World."</a:t>
            </a:r>
          </a:p>
        </p:txBody>
      </p: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DAHWV_rCX6c</dc:identifier>
  <dcterms:modified xsi:type="dcterms:W3CDTF">2011-08-01T06:04:30Z</dcterms:modified>
  <cp:revision>1</cp:revision>
  <dc:title>Kabel LAN Crossover</dc:title>
</cp:coreProperties>
</file>